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Selection Statements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468880"/>
            <a:ext cx="30973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EDCF5"/>
                </a:solidFill>
              </a:defRPr>
            </a:pPr>
            <a:r>
              <a:rPr dirty="0"/>
              <a:t>Conditions • if • if-else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27432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CONDITION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114800"/>
            <a:ext cx="2560320" cy="914400"/>
          </a:xfrm>
          <a:prstGeom prst="roundRect">
            <a:avLst/>
          </a:prstGeom>
          <a:solidFill>
            <a:srgbClr val="E1F5E9"/>
          </a:solidFill>
          <a:ln>
            <a:solidFill>
              <a:srgbClr val="43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114800"/>
            <a:ext cx="2560320" cy="914400"/>
          </a:xfrm>
          <a:prstGeom prst="roundRect">
            <a:avLst/>
          </a:prstGeom>
          <a:solidFill>
            <a:srgbClr val="FCE8E8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FALSE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 Selection Statement?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dirty="0"/>
              <a:t>• A selection statement allows a program to choose between different paths.</a:t>
            </a:r>
            <a:r>
              <a:rPr lang="en-US" dirty="0"/>
              <a:t> </a:t>
            </a:r>
            <a:r>
              <a:rPr dirty="0"/>
              <a:t>The choice is made by evaluating a condition.</a:t>
            </a:r>
          </a:p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dirty="0"/>
              <a:t>• Different statements execute depending on whether the condition is true or false.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7432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337560"/>
            <a:ext cx="2743200" cy="914400"/>
          </a:xfrm>
          <a:prstGeom prst="roundRect">
            <a:avLst/>
          </a:prstGeom>
          <a:solidFill>
            <a:srgbClr val="E1F5E9"/>
          </a:solidFill>
          <a:ln>
            <a:solidFill>
              <a:srgbClr val="43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TRUE →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572000"/>
            <a:ext cx="2743200" cy="914400"/>
          </a:xfrm>
          <a:prstGeom prst="roundRect">
            <a:avLst/>
          </a:prstGeom>
          <a:solidFill>
            <a:srgbClr val="FCE8E8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B32"/>
                </a:solidFill>
              </a:defRPr>
            </a:pPr>
            <a:r>
              <a:t>FALSE → Other statements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 Condition?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A condition is an expression evaluated as TRUE or FALSE.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Conditions are commonly formed using relational operators.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Example: marks &gt;= 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4663440" cy="384048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0">
                <a:solidFill>
                  <a:srgbClr val="232B32"/>
                </a:solidFill>
              </a:defRPr>
            </a:pPr>
            <a:r>
              <a:rPr b="1" dirty="0"/>
              <a:t>Examples</a:t>
            </a:r>
            <a:br>
              <a:rPr dirty="0"/>
            </a:br>
            <a:br>
              <a:rPr dirty="0"/>
            </a:br>
            <a:r>
              <a:rPr dirty="0"/>
              <a:t>age &gt;= 18</a:t>
            </a:r>
            <a:br>
              <a:rPr dirty="0"/>
            </a:br>
            <a:r>
              <a:rPr dirty="0"/>
              <a:t>marks &gt;= 40</a:t>
            </a:r>
            <a:br>
              <a:rPr dirty="0"/>
            </a:br>
            <a:r>
              <a:rPr dirty="0"/>
              <a:t>number % 2 == 0</a:t>
            </a:r>
            <a:br>
              <a:rPr dirty="0"/>
            </a:br>
            <a:r>
              <a:rPr dirty="0"/>
              <a:t>a &gt; b</a:t>
            </a:r>
            <a:br>
              <a:rPr dirty="0"/>
            </a:br>
            <a:r>
              <a:rPr dirty="0"/>
              <a:t>salary == 20000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Relational Operators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286000" cy="502920"/>
          </a:xfrm>
          <a:prstGeom prst="round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B32"/>
                </a:solidFill>
              </a:defRPr>
            </a:pPr>
            <a:r>
              <a:t>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234440"/>
            <a:ext cx="6858000" cy="502920"/>
          </a:xfrm>
          <a:prstGeom prst="round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32B32"/>
                </a:solidFill>
              </a:defRPr>
            </a:pPr>
            <a:r>
              <a:t>Meaning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&lt;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Less than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42316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Greater than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&lt;=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01752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Less than or equal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&gt;=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61188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Greater than or equal 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==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20624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Equal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00600"/>
            <a:ext cx="2286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!=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800600"/>
            <a:ext cx="68580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32B32"/>
                </a:solidFill>
              </a:defRPr>
            </a:pPr>
            <a:r>
              <a:t>Not equal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9875520" cy="594360"/>
          </a:xfrm>
          <a:prstGeom prst="roundRect">
            <a:avLst/>
          </a:prstGeom>
          <a:solidFill>
            <a:srgbClr val="FFF6DC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rPr dirty="0"/>
              <a:t>Important:  = means assignment          == means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if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40926"/>
            <a:ext cx="5120640" cy="1988074"/>
          </a:xfrm>
          <a:prstGeom prst="roundRect">
            <a:avLst/>
          </a:prstGeom>
          <a:solidFill>
            <a:srgbClr val="F2F6F9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700" b="0">
                <a:solidFill>
                  <a:srgbClr val="232B32"/>
                </a:solidFill>
              </a:defRPr>
            </a:pPr>
            <a:r>
              <a:rPr lang="en-US" b="1" dirty="0"/>
              <a:t>                                        </a:t>
            </a:r>
            <a:r>
              <a:rPr b="1" dirty="0"/>
              <a:t>Syntax</a:t>
            </a:r>
            <a:br>
              <a:rPr dirty="0"/>
            </a:br>
            <a:br>
              <a:rPr dirty="0"/>
            </a:br>
            <a:r>
              <a:rPr sz="2000" dirty="0"/>
              <a:t>if (condition)</a:t>
            </a:r>
            <a:br>
              <a:rPr sz="2000" dirty="0"/>
            </a:br>
            <a:r>
              <a:rPr sz="2000" dirty="0"/>
              <a:t>{</a:t>
            </a:r>
            <a:br>
              <a:rPr sz="2000" dirty="0"/>
            </a:br>
            <a:r>
              <a:rPr sz="2000" dirty="0"/>
              <a:t>    statements;</a:t>
            </a:r>
            <a:br>
              <a:rPr sz="2000" dirty="0"/>
            </a:br>
            <a:r>
              <a:rPr sz="2000" dirty="0"/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40926"/>
            <a:ext cx="5120640" cy="1937035"/>
          </a:xfrm>
          <a:prstGeom prst="roundRect">
            <a:avLst/>
          </a:prstGeom>
          <a:solidFill>
            <a:srgbClr val="F2F6F9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 b="0">
                <a:solidFill>
                  <a:srgbClr val="232B32"/>
                </a:solidFill>
              </a:defRPr>
            </a:pPr>
            <a:r>
              <a:rPr lang="en-US" b="1" dirty="0"/>
              <a:t>                                       </a:t>
            </a:r>
            <a:r>
              <a:rPr b="1" dirty="0"/>
              <a:t>Example</a:t>
            </a:r>
            <a:br>
              <a:rPr dirty="0"/>
            </a:br>
            <a:br>
              <a:rPr dirty="0"/>
            </a:br>
            <a:r>
              <a:rPr sz="2000" dirty="0"/>
              <a:t>if (age &gt;= 18)</a:t>
            </a:r>
            <a:br>
              <a:rPr sz="2000" dirty="0"/>
            </a:br>
            <a:r>
              <a:rPr sz="2000" dirty="0"/>
              <a:t>{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("Eligible to vote");</a:t>
            </a:r>
            <a:br>
              <a:rPr sz="2000" dirty="0"/>
            </a:br>
            <a:r>
              <a:rPr sz="2000" dirty="0"/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160520"/>
            <a:ext cx="96012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rPr dirty="0"/>
              <a:t>TRUE → execute the block          FALSE → skip the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if-else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212080" cy="2906486"/>
          </a:xfrm>
          <a:prstGeom prst="roundRect">
            <a:avLst/>
          </a:prstGeom>
          <a:solidFill>
            <a:srgbClr val="F2F6F9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700" b="0">
                <a:solidFill>
                  <a:srgbClr val="232B32"/>
                </a:solidFill>
              </a:defRPr>
            </a:pPr>
            <a:r>
              <a:rPr lang="en-US" b="1" dirty="0"/>
              <a:t>                                       </a:t>
            </a:r>
            <a:r>
              <a:rPr b="1" dirty="0"/>
              <a:t>Syntax</a:t>
            </a:r>
            <a:br>
              <a:rPr dirty="0"/>
            </a:br>
            <a:br>
              <a:rPr dirty="0"/>
            </a:br>
            <a:r>
              <a:rPr dirty="0"/>
              <a:t>if (condition)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statements;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/>
              <a:t>else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statements;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43000"/>
            <a:ext cx="5212080" cy="3242388"/>
          </a:xfrm>
          <a:prstGeom prst="roundRect">
            <a:avLst/>
          </a:prstGeom>
          <a:solidFill>
            <a:srgbClr val="F2F6F9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 b="0">
                <a:solidFill>
                  <a:srgbClr val="232B32"/>
                </a:solidFill>
              </a:defRPr>
            </a:pPr>
            <a:r>
              <a:rPr lang="en-US" b="1" dirty="0"/>
              <a:t>                                         </a:t>
            </a:r>
            <a:r>
              <a:rPr b="1" dirty="0"/>
              <a:t>Example</a:t>
            </a:r>
            <a:br>
              <a:rPr dirty="0"/>
            </a:br>
            <a:br>
              <a:rPr dirty="0"/>
            </a:br>
            <a:r>
              <a:rPr sz="2000" dirty="0"/>
              <a:t>if (marks &gt;= 40)</a:t>
            </a:r>
            <a:br>
              <a:rPr sz="2000" dirty="0"/>
            </a:br>
            <a:r>
              <a:rPr sz="2000" dirty="0"/>
              <a:t>{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("Pass");</a:t>
            </a:r>
            <a:br>
              <a:rPr sz="2000" dirty="0"/>
            </a:br>
            <a:r>
              <a:rPr sz="2000" dirty="0"/>
              <a:t>}</a:t>
            </a:r>
            <a:br>
              <a:rPr sz="2000" dirty="0"/>
            </a:br>
            <a:r>
              <a:rPr sz="2000" dirty="0"/>
              <a:t>else</a:t>
            </a:r>
            <a:br>
              <a:rPr sz="2000" dirty="0"/>
            </a:br>
            <a:r>
              <a:rPr sz="2000" dirty="0"/>
              <a:t>{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("Fail");</a:t>
            </a:r>
            <a:br>
              <a:rPr sz="2000" dirty="0"/>
            </a:br>
            <a:r>
              <a:rPr sz="2000" dirty="0"/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00600"/>
            <a:ext cx="8412480" cy="685800"/>
          </a:xfrm>
          <a:prstGeom prst="roundRect">
            <a:avLst/>
          </a:prstGeom>
          <a:solidFill>
            <a:srgbClr val="F5EFDC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Two possible paths → only one block executes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Odd or Even: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Use the modulus operator (%) to find the remainder.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If number % 2 == 0 → the number is EVEN.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</a:defRPr>
            </a:pPr>
            <a:r>
              <a:t>• Otherwise → the number is ODD.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657600"/>
            <a:ext cx="301752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232B32"/>
                </a:solidFill>
              </a:defRPr>
            </a:pPr>
            <a:r>
              <a:t>number % 2 ==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83480"/>
            <a:ext cx="3657600" cy="685800"/>
          </a:xfrm>
          <a:prstGeom prst="roundRect">
            <a:avLst/>
          </a:prstGeom>
          <a:solidFill>
            <a:srgbClr val="E1F5E9"/>
          </a:solidFill>
          <a:ln>
            <a:solidFill>
              <a:srgbClr val="43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TRUE → Even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983480"/>
            <a:ext cx="3657600" cy="685800"/>
          </a:xfrm>
          <a:prstGeom prst="roundRect">
            <a:avLst/>
          </a:prstGeom>
          <a:solidFill>
            <a:srgbClr val="FCE8E8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32B32"/>
                </a:solidFill>
              </a:defRPr>
            </a:pPr>
            <a:r>
              <a:t>FALSE → Odd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Odd or Even: C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6766560" cy="5440680"/>
          </a:xfrm>
          <a:prstGeom prst="roundRect">
            <a:avLst/>
          </a:prstGeom>
          <a:solidFill>
            <a:srgbClr val="F2F6F9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0">
                <a:solidFill>
                  <a:srgbClr val="232B32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number;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number: ");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&amp;number);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(number % 2 == 0)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("Even");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("Odd");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25880"/>
            <a:ext cx="32004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32B32"/>
                </a:solidFill>
              </a:defRPr>
            </a:pPr>
            <a:r>
              <a:t>Input → Process →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788920"/>
            <a:ext cx="3200400" cy="914400"/>
          </a:xfrm>
          <a:prstGeom prst="roundRect">
            <a:avLst/>
          </a:prstGeom>
          <a:solidFill>
            <a:srgbClr val="F5EFDC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32B32"/>
                </a:solidFill>
              </a:defRPr>
            </a:pPr>
            <a:r>
              <a:t>% finds remainder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251960"/>
            <a:ext cx="3200400" cy="914400"/>
          </a:xfrm>
          <a:prstGeom prst="roundRect">
            <a:avLst/>
          </a:prstGeom>
          <a:solidFill>
            <a:srgbClr val="EEF8F0"/>
          </a:solidFill>
          <a:ln>
            <a:solidFill>
              <a:srgbClr val="43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32B32"/>
                </a:solidFill>
              </a:defRPr>
            </a:pPr>
            <a:r>
              <a:t>if-else makes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Dry Run: Odd / Even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4754880" cy="3566160"/>
          </a:xfrm>
          <a:prstGeom prst="roundRect">
            <a:avLst/>
          </a:prstGeom>
          <a:solidFill>
            <a:srgbClr val="EEF8F0"/>
          </a:solidFill>
          <a:ln>
            <a:solidFill>
              <a:srgbClr val="43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300" b="1">
                <a:solidFill>
                  <a:srgbClr val="232B32"/>
                </a:solidFill>
              </a:defRPr>
            </a:pPr>
            <a:r>
              <a:t>Input: number = 8</a:t>
            </a:r>
            <a:br/>
            <a:br/>
            <a:r>
              <a:t>8 % 2 = 0</a:t>
            </a:r>
            <a:br/>
            <a:br/>
            <a:r>
              <a:t>0 == 0 → TRUE</a:t>
            </a:r>
            <a:br/>
            <a:br/>
            <a:r>
              <a:t>Output: 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234440"/>
            <a:ext cx="4754880" cy="3566160"/>
          </a:xfrm>
          <a:prstGeom prst="roundRect">
            <a:avLst/>
          </a:prstGeom>
          <a:solidFill>
            <a:srgbClr val="FCE8E8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300" b="1">
                <a:solidFill>
                  <a:srgbClr val="232B32"/>
                </a:solidFill>
              </a:defRPr>
            </a:pPr>
            <a:r>
              <a:t>Input: number = 7</a:t>
            </a:r>
            <a:br/>
            <a:br/>
            <a:r>
              <a:t>7 % 2 = 1</a:t>
            </a:r>
            <a:br/>
            <a:br/>
            <a:r>
              <a:t>1 == 0 → FALSE</a:t>
            </a:r>
            <a:br/>
            <a:br/>
            <a:r>
              <a:t>Output: Odd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257800"/>
            <a:ext cx="777240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2B32"/>
                </a:solidFill>
              </a:defRPr>
            </a:pPr>
            <a:r>
              <a:t>Test cases: 0, 2, 5, 10, 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sz="2800" dirty="0"/>
              <a:t>• Using = instead of == inside a condition.</a:t>
            </a:r>
          </a:p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sz="2800" dirty="0"/>
              <a:t>• Putting a semicolon immediately after if(condition);</a:t>
            </a:r>
          </a:p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sz="2800" dirty="0"/>
              <a:t>• Forgetting braces when a block contains multiple statements.</a:t>
            </a:r>
          </a:p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sz="2800" dirty="0"/>
              <a:t>• Writing the wrong condition for the problem.</a:t>
            </a:r>
          </a:p>
          <a:p>
            <a:pPr>
              <a:spcAft>
                <a:spcPts val="1000"/>
              </a:spcAft>
              <a:defRPr sz="2200">
                <a:solidFill>
                  <a:srgbClr val="232B32"/>
                </a:solidFill>
              </a:defRPr>
            </a:pPr>
            <a:r>
              <a:rPr sz="2800" dirty="0"/>
              <a:t>• Testing only one input instead of several test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BF4FC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232B32"/>
                </a:solidFill>
              </a:defRPr>
            </a:pPr>
            <a:r>
              <a:t>1. Write a C program to check whether a given year is a leap year or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2057400"/>
          </a:xfrm>
          <a:prstGeom prst="roundRect">
            <a:avLst/>
          </a:prstGeom>
          <a:solidFill>
            <a:srgbClr val="F5EFDC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solidFill>
                  <a:srgbClr val="232B32"/>
                </a:solidFill>
              </a:defRPr>
            </a:pPr>
            <a:r>
              <a:t>2. Write a C program to read the basic salary and calculate HRA = 1% of salary, DA = 5% of salary. If salary &gt;= 20,000, apply 10% tax; otherwise apply 5% tax. Print the net salary.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23644" y="5225"/>
            <a:ext cx="3917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Quick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Selection statements make decisions in a C program.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A condition evaluates to TRUE or FALSE.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Relational operators compare values.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if executes a block only when the condition is true.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if-else provides two alternative paths.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Odd/Even uses the modulus operator (%).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</a:defRPr>
            </a:pPr>
            <a:r>
              <a:t>• Always test programs with multiple inputs.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672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Deblina Banerjee</cp:lastModifiedBy>
  <cp:revision>3</cp:revision>
  <dcterms:created xsi:type="dcterms:W3CDTF">2013-01-27T09:14:16Z</dcterms:created>
  <dcterms:modified xsi:type="dcterms:W3CDTF">2026-09-20T11:42:50Z</dcterms:modified>
  <cp:category/>
</cp:coreProperties>
</file>